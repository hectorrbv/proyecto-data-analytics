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B6A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06240"/>
            <a:ext cx="12191695" cy="73152"/>
          </a:xfrm>
          <a:prstGeom prst="rect">
            <a:avLst/>
          </a:prstGeom>
          <a:solidFill>
            <a:srgbClr val="B358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72865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Helvetica"/>
              </a:rPr>
              <a:t>Análisis de Readmisiones, Recurrencia y</a:t>
            </a:r>
            <a:br/>
            <a:r>
              <a:rPr sz="4000" b="1">
                <a:solidFill>
                  <a:srgbClr val="FFFFFF"/>
                </a:solidFill>
                <a:latin typeface="Helvetica"/>
              </a:rPr>
              <a:t>Estancia Hospitalaria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7286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Helvetica"/>
              </a:rPr>
              <a:t>Pacientes con Diabetes — Diabetes 130-Hospitals (UCI)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480560"/>
            <a:ext cx="107286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Helvetica"/>
              </a:rPr>
              <a:t>Hector Raul Becerril Villamil   ·   Elena Carolina Sánchez Araiza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937760"/>
            <a:ext cx="107286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Helvetica"/>
              </a:rPr>
              <a:t>Universidad Iberoamericana   ·   Primavera 2026   ·   Prof. Rodrigo Cárdenas Domínguez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B6A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Helvetica"/>
              </a:rPr>
              <a:t>El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4A4A4A"/>
                </a:solidFill>
                <a:latin typeface="Helvetica"/>
              </a:rPr>
              <a:t>Las readmisiones tempranas presionan camas, personal y calidad de atención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3B6AA0"/>
                </a:solidFill>
                <a:latin typeface="Helvetica"/>
              </a:rPr>
              <a:t>Tres preguntas operativas: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447" y="2286000"/>
            <a:ext cx="3474720" cy="548640"/>
          </a:xfrm>
          <a:prstGeom prst="rect">
            <a:avLst/>
          </a:prstGeom>
          <a:solidFill>
            <a:srgbClr val="3B6A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447" y="2834640"/>
            <a:ext cx="3474720" cy="256032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331720"/>
            <a:ext cx="3108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Helvetica"/>
              </a:rPr>
              <a:t>¿Quién regresa</a:t>
            </a:r>
            <a:br/>
            <a:r>
              <a:rPr sz="1500" b="1">
                <a:solidFill>
                  <a:srgbClr val="FFFFFF"/>
                </a:solidFill>
                <a:latin typeface="Helvetica"/>
              </a:rPr>
              <a:t>antes de 30 días?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3108960"/>
            <a:ext cx="310896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4A4A4A"/>
                </a:solidFill>
                <a:latin typeface="Helvetica"/>
              </a:rPr>
              <a:t>8.97 % de los pacientes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58487" y="2286000"/>
            <a:ext cx="3474720" cy="548640"/>
          </a:xfrm>
          <a:prstGeom prst="rect">
            <a:avLst/>
          </a:prstGeom>
          <a:solidFill>
            <a:srgbClr val="B358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58487" y="2834640"/>
            <a:ext cx="3474720" cy="256032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1367" y="2331720"/>
            <a:ext cx="3108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Helvetica"/>
              </a:rPr>
              <a:t>¿Quién acumula</a:t>
            </a:r>
            <a:br/>
            <a:r>
              <a:rPr sz="1500" b="1">
                <a:solidFill>
                  <a:srgbClr val="FFFFFF"/>
                </a:solidFill>
                <a:latin typeface="Helvetica"/>
              </a:rPr>
              <a:t>más admisiones?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1367" y="3108960"/>
            <a:ext cx="310896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4A4A4A"/>
                </a:solidFill>
                <a:latin typeface="Helvetica"/>
              </a:rPr>
              <a:t>cola larga, pocos pacientes</a:t>
            </a:r>
            <a:br/>
            <a:r>
              <a:rPr sz="1800" b="0">
                <a:solidFill>
                  <a:srgbClr val="4A4A4A"/>
                </a:solidFill>
                <a:latin typeface="Helvetica"/>
              </a:rPr>
              <a:t>concentran el uso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07527" y="2286000"/>
            <a:ext cx="3474720" cy="548640"/>
          </a:xfrm>
          <a:prstGeom prst="rect">
            <a:avLst/>
          </a:prstGeom>
          <a:solidFill>
            <a:srgbClr val="6A9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07527" y="2834640"/>
            <a:ext cx="3474720" cy="256032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0407" y="2331720"/>
            <a:ext cx="3108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Helvetica"/>
              </a:rPr>
              <a:t>¿Quién se queda</a:t>
            </a:r>
            <a:br/>
            <a:r>
              <a:rPr sz="1500" b="1">
                <a:solidFill>
                  <a:srgbClr val="FFFFFF"/>
                </a:solidFill>
                <a:latin typeface="Helvetica"/>
              </a:rPr>
              <a:t>más tiempo?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0407" y="3108960"/>
            <a:ext cx="310896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4A4A4A"/>
                </a:solidFill>
                <a:latin typeface="Helvetica"/>
              </a:rPr>
              <a:t>mediana 3 días</a:t>
            </a:r>
            <a:br/>
            <a:r>
              <a:rPr sz="1800" b="0">
                <a:solidFill>
                  <a:srgbClr val="4A4A4A"/>
                </a:solidFill>
                <a:latin typeface="Helvetica"/>
              </a:rPr>
              <a:t>con estancias hasta 14+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Helvetica"/>
              </a:rPr>
              <a:t>Proyecto Final · Analítica de Datos · Universidad Iberoamericana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4A4A4A"/>
                </a:solidFill>
                <a:latin typeface="Helvetica"/>
              </a:rPr>
              <a:t>2/9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B6A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Helvetica"/>
              </a:rPr>
              <a:t>Los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4A4A4A"/>
                </a:solidFill>
                <a:latin typeface="Helvetica"/>
              </a:rPr>
              <a:t>Diabetes 130-Hospitals (UCI) — más de 100 mil ingresos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3657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3B6AA0"/>
                </a:solidFill>
                <a:latin typeface="Helvetica"/>
              </a:rPr>
              <a:t>101,766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4A4A4A"/>
                </a:solidFill>
                <a:latin typeface="Helvetica"/>
              </a:rPr>
              <a:t>admisiones originales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108960"/>
            <a:ext cx="3657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B3582D"/>
                </a:solidFill>
                <a:latin typeface="Helvetica"/>
              </a:rPr>
              <a:t>69,970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148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4A4A4A"/>
                </a:solidFill>
                <a:latin typeface="Helvetica"/>
              </a:rPr>
              <a:t>pacientes únicos tras limpieza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754880"/>
            <a:ext cx="3657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B03838"/>
                </a:solidFill>
                <a:latin typeface="Helvetica"/>
              </a:rPr>
              <a:t>8.97 %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7607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4A4A4A"/>
                </a:solidFill>
                <a:latin typeface="Helvetica"/>
              </a:rPr>
              <a:t>tasa global de readmisión a 30 días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371600"/>
            <a:ext cx="5943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3B6AA0"/>
                </a:solidFill>
                <a:latin typeface="Helvetica"/>
              </a:rPr>
              <a:t>Decisiones de limpieza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1920240"/>
            <a:ext cx="59436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4A4A4A"/>
                </a:solidFill>
                <a:latin typeface="Helvetica"/>
              </a:rPr>
              <a:t>• Un solo registro por paciente (independencia estadística)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4A4A4A"/>
                </a:solidFill>
                <a:latin typeface="Helvetica"/>
              </a:rPr>
              <a:t>• Excluir pacientes fallecidos y egresos a hospicio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4A4A4A"/>
                </a:solidFill>
                <a:latin typeface="Helvetica"/>
              </a:rPr>
              <a:t>• Eliminar variables casi vacías (weight: 97 % faltantes)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4A4A4A"/>
                </a:solidFill>
                <a:latin typeface="Helvetica"/>
              </a:rPr>
              <a:t>• Conservar 'Desconocido' como categoría observable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4A4A4A"/>
                </a:solidFill>
                <a:latin typeface="Helvetica"/>
              </a:rPr>
              <a:t>•    ↳ validado: tasa 11.6 % vs 10.8 % (p ≈ 4×10⁻⁵)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Helvetica"/>
              </a:rPr>
              <a:t>Proyecto Final · Analítica de Datos · Universidad Iberoamericana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4A4A4A"/>
                </a:solidFill>
                <a:latin typeface="Helvetica"/>
              </a:rPr>
              <a:t>3/9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B6A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Helvetica"/>
              </a:rPr>
              <a:t>Tres fenómenos, tres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4A4A4A"/>
                </a:solidFill>
                <a:latin typeface="Helvetica"/>
              </a:rPr>
              <a:t>Cada variable de respuesta requiere su propia familia estadística</a:t>
            </a:r>
          </a:p>
        </p:txBody>
      </p:sp>
      <p:pic>
        <p:nvPicPr>
          <p:cNvPr id="5" name="Picture 4" descr="fig1_distribuci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858000" cy="17472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0" y="14630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4A4A4A"/>
                </a:solidFill>
                <a:latin typeface="Helvetica"/>
              </a:rPr>
              <a:t>Modelo elegido en cada caso:</a:t>
            </a:r>
          </a:p>
        </p:txBody>
      </p:sp>
      <p:sp>
        <p:nvSpPr>
          <p:cNvPr id="7" name="Rectangle 6"/>
          <p:cNvSpPr/>
          <p:nvPr/>
        </p:nvSpPr>
        <p:spPr>
          <a:xfrm>
            <a:off x="7589520" y="2011680"/>
            <a:ext cx="137160" cy="914400"/>
          </a:xfrm>
          <a:prstGeom prst="rect">
            <a:avLst/>
          </a:prstGeom>
          <a:solidFill>
            <a:srgbClr val="3B6A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0" y="2057400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4A4A4A"/>
                </a:solidFill>
                <a:latin typeface="Helvetica"/>
              </a:rPr>
              <a:t>Readmisión (sí/no)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2395728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3B6AA0"/>
                </a:solidFill>
                <a:latin typeface="Helvetica"/>
              </a:rPr>
              <a:t>Regresión logística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0" y="3200400"/>
            <a:ext cx="137160" cy="914400"/>
          </a:xfrm>
          <a:prstGeom prst="rect">
            <a:avLst/>
          </a:prstGeom>
          <a:solidFill>
            <a:srgbClr val="B358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3246120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4A4A4A"/>
                </a:solidFill>
                <a:latin typeface="Helvetica"/>
              </a:rPr>
              <a:t>Admisiones previas (conteo)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3584448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B3582D"/>
                </a:solidFill>
                <a:latin typeface="Helvetica"/>
              </a:rPr>
              <a:t>Binomial Negativa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89520" y="4389120"/>
            <a:ext cx="137160" cy="914400"/>
          </a:xfrm>
          <a:prstGeom prst="rect">
            <a:avLst/>
          </a:prstGeom>
          <a:solidFill>
            <a:srgbClr val="6A9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0" y="4434840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4A4A4A"/>
                </a:solidFill>
                <a:latin typeface="Helvetica"/>
              </a:rPr>
              <a:t>Días de estancia (continuo)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4773168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6A9A4F"/>
                </a:solidFill>
                <a:latin typeface="Helvetica"/>
              </a:rPr>
              <a:t>Regresión Gamma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Helvetica"/>
              </a:rPr>
              <a:t>Proyecto Final · Analítica de Datos · Universidad Iberoamericana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4A4A4A"/>
                </a:solidFill>
                <a:latin typeface="Helvetica"/>
              </a:rPr>
              <a:t>4/9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B6A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Helvetica"/>
              </a:rPr>
              <a:t>Hallazgo 1 — Readmisión a 30 días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4A4A4A"/>
                </a:solidFill>
                <a:latin typeface="Helvetica"/>
              </a:rPr>
              <a:t>El historial de admisiones previas es el mayor predictor del reingreso temprano</a:t>
            </a:r>
          </a:p>
        </p:txBody>
      </p:sp>
      <p:pic>
        <p:nvPicPr>
          <p:cNvPr id="5" name="Picture 4" descr="fig4_or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6400800" cy="398513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132320" y="1463040"/>
            <a:ext cx="4754880" cy="22860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0" y="1554480"/>
            <a:ext cx="475488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400" b="1">
                <a:solidFill>
                  <a:srgbClr val="B03838"/>
                </a:solidFill>
                <a:latin typeface="Helvetica"/>
              </a:rPr>
              <a:t>×1.40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2651760"/>
            <a:ext cx="4754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4A4A4A"/>
                </a:solidFill>
                <a:latin typeface="Helvetica"/>
              </a:rPr>
              <a:t>por cada admisión previa adicional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3017520"/>
            <a:ext cx="47548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A4A4A"/>
                </a:solidFill>
                <a:latin typeface="Helvetica"/>
              </a:rPr>
              <a:t>(40 % más probabilidad que un paciente comparable</a:t>
            </a:r>
            <a:br/>
            <a:r>
              <a:rPr sz="1100" b="0">
                <a:solidFill>
                  <a:srgbClr val="4A4A4A"/>
                </a:solidFill>
                <a:latin typeface="Helvetica"/>
              </a:rPr>
              <a:t>sin ese antecedente)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40233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3B6AA0"/>
                </a:solidFill>
                <a:latin typeface="Helvetica"/>
              </a:rPr>
              <a:t>Otros factores significativos: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4480560"/>
            <a:ext cx="47548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4A4A4A"/>
                </a:solidFill>
                <a:latin typeface="Helvetica"/>
              </a:rPr>
              <a:t>• Uso de medicamento para diabetes (+21 %)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4A4A4A"/>
                </a:solidFill>
                <a:latin typeface="Helvetica"/>
              </a:rPr>
              <a:t>• Visitas previas a urgencias (+7 % cada una)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4A4A4A"/>
                </a:solidFill>
                <a:latin typeface="Helvetica"/>
              </a:rPr>
              <a:t>• Días de estancia (+4 % por día)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Helvetica"/>
              </a:rPr>
              <a:t>Proyecto Final · Analítica de Datos · Universidad Iberoamericana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4A4A4A"/>
                </a:solidFill>
                <a:latin typeface="Helvetica"/>
              </a:rPr>
              <a:t>5/9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B6A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Helvetica"/>
              </a:rPr>
              <a:t>Hallazgo 2 — Recurrencia hospitalaria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4A4A4A"/>
                </a:solidFill>
                <a:latin typeface="Helvetica"/>
              </a:rPr>
              <a:t>Un grupo pequeño concentra una porción desproporcionada del uso</a:t>
            </a:r>
          </a:p>
        </p:txBody>
      </p:sp>
      <p:pic>
        <p:nvPicPr>
          <p:cNvPr id="5" name="Picture 4" descr="fig7_aic_poisson_n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6400800" cy="193649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132320" y="1463040"/>
            <a:ext cx="4754880" cy="22860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0" y="1554480"/>
            <a:ext cx="475488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400" b="1">
                <a:solidFill>
                  <a:srgbClr val="B03838"/>
                </a:solidFill>
                <a:latin typeface="Helvetica"/>
              </a:rPr>
              <a:t>×1.77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2651760"/>
            <a:ext cx="4754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4A4A4A"/>
                </a:solidFill>
                <a:latin typeface="Helvetica"/>
              </a:rPr>
              <a:t>por cada visita previa a urgencias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3017520"/>
            <a:ext cx="47548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A4A4A"/>
                </a:solidFill>
                <a:latin typeface="Helvetica"/>
              </a:rPr>
              <a:t>(multiplicador del número esperado de</a:t>
            </a:r>
            <a:br/>
            <a:r>
              <a:rPr sz="1100" b="0">
                <a:solidFill>
                  <a:srgbClr val="4A4A4A"/>
                </a:solidFill>
                <a:latin typeface="Helvetica"/>
              </a:rPr>
              <a:t>futuras admisiones)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40233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3B6AA0"/>
                </a:solidFill>
                <a:latin typeface="Helvetica"/>
              </a:rPr>
              <a:t>Lo que significa: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4480560"/>
            <a:ext cx="475488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4A4A4A"/>
                </a:solidFill>
                <a:latin typeface="Helvetica"/>
              </a:rPr>
              <a:t>• No es una distribución pareja: pocos pacientes</a:t>
            </a:r>
            <a:br/>
            <a:r>
              <a:rPr sz="1400">
                <a:solidFill>
                  <a:srgbClr val="4A4A4A"/>
                </a:solidFill>
                <a:latin typeface="Helvetica"/>
              </a:rPr>
              <a:t>concentran muchas más admisiones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4A4A4A"/>
                </a:solidFill>
                <a:latin typeface="Helvetica"/>
              </a:rPr>
              <a:t>• Las visitas a urgencias son señal temprana</a:t>
            </a:r>
            <a:br/>
            <a:r>
              <a:rPr sz="1400">
                <a:solidFill>
                  <a:srgbClr val="4A4A4A"/>
                </a:solidFill>
                <a:latin typeface="Helvetica"/>
              </a:rPr>
              <a:t>de recurrencia inminente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4A4A4A"/>
                </a:solidFill>
                <a:latin typeface="Helvetica"/>
              </a:rPr>
              <a:t>• Identificable antes del alta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Helvetica"/>
              </a:rPr>
              <a:t>Proyecto Final · Analítica de Datos · Universidad Iberoamericana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4A4A4A"/>
                </a:solidFill>
                <a:latin typeface="Helvetica"/>
              </a:rPr>
              <a:t>6/9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B6A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Helvetica"/>
              </a:rPr>
              <a:t>Hallazgo 3 — Duración de la estancia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4A4A4A"/>
                </a:solidFill>
                <a:latin typeface="Helvetica"/>
              </a:rPr>
              <a:t>La complejidad clínica determina cuánto tiempo permanece el paciente</a:t>
            </a:r>
          </a:p>
        </p:txBody>
      </p:sp>
      <p:pic>
        <p:nvPicPr>
          <p:cNvPr id="5" name="Picture 4" descr="fig5_diag_gam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040"/>
            <a:ext cx="6400800" cy="218248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132320" y="1463040"/>
            <a:ext cx="4754880" cy="22860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0" y="1554480"/>
            <a:ext cx="475488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400" b="1">
                <a:solidFill>
                  <a:srgbClr val="B03838"/>
                </a:solidFill>
                <a:latin typeface="Helvetica"/>
              </a:rPr>
              <a:t>+34 %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2651760"/>
            <a:ext cx="4754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4A4A4A"/>
                </a:solidFill>
                <a:latin typeface="Helvetica"/>
              </a:rPr>
              <a:t>estancia más larga en categoría "Otros"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3017520"/>
            <a:ext cx="47548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A4A4A"/>
                </a:solidFill>
                <a:latin typeface="Helvetica"/>
              </a:rPr>
              <a:t>(vs. caso circulatorio comparable)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40233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3B6AA0"/>
                </a:solidFill>
                <a:latin typeface="Helvetica"/>
              </a:rPr>
              <a:t>Factores principales: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4480560"/>
            <a:ext cx="475488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4A4A4A"/>
                </a:solidFill>
                <a:latin typeface="Helvetica"/>
              </a:rPr>
              <a:t>• Cada diagnóstico adicional → +3 % de estancia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4A4A4A"/>
                </a:solidFill>
                <a:latin typeface="Helvetica"/>
              </a:rPr>
              <a:t>• Cada admisión previa → +3 % de estancia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4A4A4A"/>
                </a:solidFill>
                <a:latin typeface="Helvetica"/>
              </a:rPr>
              <a:t>• Categorías "Otros", Neoplasmas, Diabetes</a:t>
            </a:r>
            <a:br/>
            <a:r>
              <a:rPr sz="1400">
                <a:solidFill>
                  <a:srgbClr val="4A4A4A"/>
                </a:solidFill>
                <a:latin typeface="Helvetica"/>
              </a:rPr>
              <a:t>son las más demandantes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Helvetica"/>
              </a:rPr>
              <a:t>Proyecto Final · Analítica de Datos · Universidad Iberoamericana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4A4A4A"/>
                </a:solidFill>
                <a:latin typeface="Helvetica"/>
              </a:rPr>
              <a:t>7/9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B6A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Helvetica"/>
              </a:rPr>
              <a:t>Recomendaciones operativas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4A4A4A"/>
                </a:solidFill>
                <a:latin typeface="Helvetica"/>
              </a:rPr>
              <a:t>Tres acciones concretas con base en los hallazgos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822960" cy="1371600"/>
          </a:xfrm>
          <a:prstGeom prst="rect">
            <a:avLst/>
          </a:prstGeom>
          <a:solidFill>
            <a:srgbClr val="3B6A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82296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5544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3B6AA0"/>
                </a:solidFill>
                <a:latin typeface="Helvetica"/>
              </a:rPr>
              <a:t>Programa de seguimiento al alta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10312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4A4A4A"/>
                </a:solidFill>
                <a:latin typeface="Helvetica"/>
              </a:rPr>
              <a:t>Llamada a las 72 h y cita ambulatoria dentro de 7 días para pacientes con</a:t>
            </a:r>
            <a:br/>
            <a:r>
              <a:rPr sz="1300" b="0">
                <a:solidFill>
                  <a:srgbClr val="4A4A4A"/>
                </a:solidFill>
                <a:latin typeface="Helvetica"/>
              </a:rPr>
              <a:t>historia previa de admisiones. Reduce el predictor más fuerte de readmisión.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108960"/>
            <a:ext cx="822960" cy="1371600"/>
          </a:xfrm>
          <a:prstGeom prst="rect">
            <a:avLst/>
          </a:prstGeom>
          <a:solidFill>
            <a:srgbClr val="B358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3108960"/>
            <a:ext cx="82296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2004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B3582D"/>
                </a:solidFill>
                <a:latin typeface="Helvetica"/>
              </a:rPr>
              <a:t>Urgencias como bandera roja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7490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4A4A4A"/>
                </a:solidFill>
                <a:latin typeface="Helvetica"/>
              </a:rPr>
              <a:t>Marcar en el sistema a pacientes con visitas recientes a urgencias.</a:t>
            </a:r>
            <a:br/>
            <a:r>
              <a:rPr sz="1300" b="0">
                <a:solidFill>
                  <a:srgbClr val="4A4A4A"/>
                </a:solidFill>
                <a:latin typeface="Helvetica"/>
              </a:rPr>
              <a:t>Son la señal temprana más confiable de recurrencia.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754880"/>
            <a:ext cx="822960" cy="1371600"/>
          </a:xfrm>
          <a:prstGeom prst="rect">
            <a:avLst/>
          </a:prstGeom>
          <a:solidFill>
            <a:srgbClr val="6A9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754880"/>
            <a:ext cx="82296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  <a:latin typeface="Helvetica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48463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6A9A4F"/>
                </a:solidFill>
                <a:latin typeface="Helvetica"/>
              </a:rPr>
              <a:t>Planeación diferenciada de camas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539496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4A4A4A"/>
                </a:solidFill>
                <a:latin typeface="Helvetica"/>
              </a:rPr>
              <a:t>Asignar mayor capacidad y tiempo de cama a pacientes con múltiples</a:t>
            </a:r>
            <a:br/>
            <a:r>
              <a:rPr sz="1300" b="0">
                <a:solidFill>
                  <a:srgbClr val="4A4A4A"/>
                </a:solidFill>
                <a:latin typeface="Helvetica"/>
              </a:rPr>
              <a:t>diagnósticos. La complejidad clínica predice la estancia esperada.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Helvetica"/>
              </a:rPr>
              <a:t>Proyecto Final · Analítica de Datos · Universidad Iberoamericana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4A4A4A"/>
                </a:solidFill>
                <a:latin typeface="Helvetica"/>
              </a:rPr>
              <a:t>8/9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B6A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94560"/>
            <a:ext cx="12191695" cy="73152"/>
          </a:xfrm>
          <a:prstGeom prst="rect">
            <a:avLst/>
          </a:prstGeom>
          <a:solidFill>
            <a:srgbClr val="B358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Helvetica"/>
              </a:rPr>
              <a:t>El patrón común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728655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Helvetica"/>
              </a:rPr>
              <a:t>Los pacientes con</a:t>
            </a:r>
            <a:br/>
            <a:r>
              <a:rPr sz="3600" b="1">
                <a:solidFill>
                  <a:srgbClr val="FFFFFF"/>
                </a:solidFill>
                <a:latin typeface="Helvetica"/>
              </a:rPr>
              <a:t>mayor historia de uso hospitalario</a:t>
            </a:r>
            <a:br/>
            <a:r>
              <a:rPr sz="3600" b="1">
                <a:solidFill>
                  <a:srgbClr val="FFFFFF"/>
                </a:solidFill>
                <a:latin typeface="Helvetica"/>
              </a:rPr>
              <a:t>y mayor complejidad clínica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572000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Helvetica"/>
              </a:rPr>
              <a:t>concentran buena parte del riesgo operativo del hospital.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03520"/>
            <a:ext cx="1072865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Helvetica"/>
              </a:rPr>
              <a:t>Su identificación temprana es la palanca más efectiva</a:t>
            </a:r>
            <a:br/>
            <a:r>
              <a:rPr sz="1600" b="0">
                <a:solidFill>
                  <a:srgbClr val="FFFFFF"/>
                </a:solidFill>
                <a:latin typeface="Helvetica"/>
              </a:rPr>
              <a:t>para reducir readmisiones, optimizar camas y mejorar el seguimiento.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