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731520" cy="54864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9E0"/>
                </a:solidFill>
                <a:latin typeface="Arial"/>
              </a:rPr>
              <a:t>UNIVERSIDAD IBEROAMERICANA · PRIMAVERA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Análisis de readmisiones,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recurrencia y estancia hospitalaria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A9E0"/>
                </a:solidFill>
                <a:latin typeface="Arial"/>
              </a:rPr>
              <a:t>Identificación de pacientes con diabetes que concentran el riesgo operativo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303520"/>
            <a:ext cx="3657600" cy="0"/>
          </a:xfrm>
          <a:prstGeom prst="line">
            <a:avLst/>
          </a:prstGeom>
          <a:ln w="12700">
            <a:solidFill>
              <a:srgbClr val="00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394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Hector Raul Becerril Villamil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Elena Carolina Sánchez Araiza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1E1E1"/>
                </a:solidFill>
                <a:latin typeface="Arial"/>
              </a:rPr>
              <a:t>Prof. Rodrigo Cárdenas Domínguez ·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Tres hallazgos definen qué pacientes con diabetes presionan más al hospital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36443" cy="54864"/>
          </a:xfrm>
          <a:prstGeom prst="rect">
            <a:avLst/>
          </a:prstGeom>
          <a:solidFill>
            <a:srgbClr val="00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6364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63644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Las readmisiones presionan camas, personal y costo. El hospital necesita</a:t>
            </a:r>
          </a:p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identificar qué pacientes regresan, cuántas veces y cuánto tiempo se quedan.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0803" y="1828800"/>
            <a:ext cx="2636443" cy="54864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0803" y="1965960"/>
            <a:ext cx="26364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READMISIÓN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803" y="2331720"/>
            <a:ext cx="263644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Cada admisión previa multiplica la probabilidad de regresar</a:t>
            </a:r>
          </a:p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en menos de 30 días por 1.40.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4406" y="1828800"/>
            <a:ext cx="2636443" cy="54864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4406" y="1965960"/>
            <a:ext cx="26364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RECURRENCIA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4406" y="2331720"/>
            <a:ext cx="263644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Las visitas previas a urgencias son la señal más fuerte: cada una</a:t>
            </a:r>
          </a:p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multiplica el número esperado de futuras admisiones por 1.77.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009" y="1828800"/>
            <a:ext cx="2636443" cy="54864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009" y="1965960"/>
            <a:ext cx="26364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ESTANCIA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009" y="2331720"/>
            <a:ext cx="263644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La complejidad clínica (diagnósticos múltiples) explica el 28 %</a:t>
            </a:r>
          </a:p>
          <a:p>
            <a:pPr algn="l"/>
            <a:r>
              <a:rPr sz="1300" b="0" i="0">
                <a:solidFill>
                  <a:srgbClr val="4A4A4A"/>
                </a:solidFill>
                <a:latin typeface="Arial"/>
              </a:rPr>
              <a:t>de la variabilidad en duración de la hospitalización.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77295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91440" cy="12801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IMPLICACIÓN OPERATIVA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Arial"/>
              </a:rPr>
              <a:t>Un mismo subgrupo de pacientes —con historia previa de uso hospitalario y mayor complejidad clínica—</a:t>
            </a:r>
          </a:p>
          <a:p>
            <a:pPr algn="l"/>
            <a:r>
              <a:rPr sz="1500" b="0" i="0">
                <a:solidFill>
                  <a:srgbClr val="4A4A4A"/>
                </a:solidFill>
                <a:latin typeface="Arial"/>
              </a:rPr>
              <a:t>concentra los tres tipos de riesgo. Su identificación temprana es la palanca de mayor impacto.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El hospital enfrenta tres preguntas operativas distintas pero relacionadas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Por qué importa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194560"/>
            <a:ext cx="5029200" cy="0"/>
          </a:xfrm>
          <a:prstGeom prst="line">
            <a:avLst/>
          </a:prstGeom>
          <a:ln w="19050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4A4A4A"/>
                </a:solidFill>
                <a:latin typeface="Arial"/>
              </a:rPr>
              <a:t>— Las readmisiones tempranas son un indicador de calidad clínica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A4A4A"/>
                </a:solidFill>
                <a:latin typeface="Arial"/>
              </a:rPr>
              <a:t>— Cada reingreso ocupa cama, personal y consume presupuesto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A4A4A"/>
                </a:solidFill>
                <a:latin typeface="Arial"/>
              </a:rPr>
              <a:t>— Un grupo pequeño puede explicar gran parte del costo total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4A4A4A"/>
                </a:solidFill>
                <a:latin typeface="Arial"/>
              </a:rPr>
              <a:t>— Identificarlos antes del alta abre ventana de intervención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Las tres preguntas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194560"/>
            <a:ext cx="5303520" cy="0"/>
          </a:xfrm>
          <a:prstGeom prst="line">
            <a:avLst/>
          </a:prstGeom>
          <a:ln w="19050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0" y="2377440"/>
            <a:ext cx="457200" cy="960120"/>
          </a:xfrm>
          <a:prstGeom prst="rect">
            <a:avLst/>
          </a:prstGeom>
          <a:solidFill>
            <a:srgbClr val="00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457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377440"/>
            <a:ext cx="480060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4505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¿Quién regresa antes de 30 días?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880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8E8E"/>
                </a:solidFill>
                <a:latin typeface="Arial"/>
              </a:rPr>
              <a:t>Variable binaria · target principal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20440"/>
            <a:ext cx="457200" cy="960120"/>
          </a:xfrm>
          <a:prstGeom prst="rect">
            <a:avLst/>
          </a:prstGeom>
          <a:solidFill>
            <a:srgbClr val="00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40"/>
            <a:ext cx="457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520440"/>
            <a:ext cx="480060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5935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¿Quién acumula más admisiones?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23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8E8E"/>
                </a:solidFill>
                <a:latin typeface="Arial"/>
              </a:rPr>
              <a:t>Conteo con cola larga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663440"/>
            <a:ext cx="457200" cy="960120"/>
          </a:xfrm>
          <a:prstGeom prst="rect">
            <a:avLst/>
          </a:prstGeom>
          <a:solidFill>
            <a:srgbClr val="00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457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4663440"/>
            <a:ext cx="4800600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7365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¿Quién se queda más tiempo internado?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6635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8E8E"/>
                </a:solidFill>
                <a:latin typeface="Arial"/>
              </a:rPr>
              <a:t>Duración continua de la estancia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DATOS Y PREPARACIÓN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Los 70 mil pacientes únicos del dataset permiten responder las tres preguntas con confianza estadística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463040"/>
          </a:xfrm>
          <a:prstGeom prst="rect">
            <a:avLst/>
          </a:prstGeom>
          <a:solidFill>
            <a:srgbClr val="00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4542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51C2C"/>
                </a:solidFill>
                <a:latin typeface="Arial"/>
              </a:rPr>
              <a:t>101,766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4542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admisiones originales</a:t>
            </a:r>
          </a:p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en 130 hospitales (EE.UU., 1999–2008)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7258" y="1828800"/>
            <a:ext cx="54864" cy="1463040"/>
          </a:xfrm>
          <a:prstGeom prst="rect">
            <a:avLst/>
          </a:prstGeom>
          <a:solidFill>
            <a:srgbClr val="00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828800"/>
            <a:ext cx="34542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51C2C"/>
                </a:solidFill>
                <a:latin typeface="Arial"/>
              </a:rPr>
              <a:t>69,970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2697480"/>
            <a:ext cx="34542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pacientes únicos tras limpieza</a:t>
            </a:r>
          </a:p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(un solo registro por paciente)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54864" cy="146304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196" y="1828800"/>
            <a:ext cx="34542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51C2C"/>
                </a:solidFill>
                <a:latin typeface="Arial"/>
              </a:rPr>
              <a:t>8.97 %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697480"/>
            <a:ext cx="34542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tasa global de readmisión</a:t>
            </a:r>
          </a:p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en menos de 30 días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Decisiones clave de preparación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4480560"/>
            <a:ext cx="10972800" cy="0"/>
          </a:xfrm>
          <a:prstGeom prst="line">
            <a:avLst/>
          </a:prstGeom>
          <a:ln w="19050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617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Un solo registro por paciente para preservar la independencia estadística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Exclusión de egresos terminales y a hospicio (no pueden reingresar)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Eliminación de variables con &gt;95 % de faltantes (ej. weight)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Faltantes informativos conservados como categoría 'Desconocido'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Validación empírica: tasa 11.6 % (faltante) vs 10.8 % (conocido), p ≈ 4×10⁻⁵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Diagnóstico ICD-9 agrupado en 9 categorías clínicas (taxonomía AHRQ)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ENFOQUE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Cada pregunta requiere su propia familia estadística para producir resultados defendibles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PREGUNTA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47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VARIABLE DE 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47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9476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MÉTRICA CLAVE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1277295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1C2C"/>
                </a:solidFill>
                <a:latin typeface="Arial"/>
              </a:rPr>
              <a:t>Readmisión &lt;30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5328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binaria (sí/no)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328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Regresión logística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328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AUC 0.61 · PR-AUC 0.14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1277295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55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1C2C"/>
                </a:solidFill>
                <a:latin typeface="Arial"/>
              </a:rPr>
              <a:t>Recurrencia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355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conteo (admisiones)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355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Binomial Negativa (vs Poisson)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3558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AIC favorece NB (Δ=8,688)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1277295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78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1C2C"/>
                </a:solidFill>
                <a:latin typeface="Arial"/>
              </a:rPr>
              <a:t>Estancia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178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continua positiva (días)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78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Regresión Gamma con liga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178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Arial"/>
              </a:rPr>
              <a:t>Pseudo R² = 0.28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91440" cy="64008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1C2C"/>
                </a:solidFill>
                <a:latin typeface="Arial"/>
              </a:rPr>
              <a:t>La elección del modelo está guiada por la forma de los datos, no por el AUC más alto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8E8E"/>
                </a:solidFill>
                <a:latin typeface="Arial"/>
              </a:rPr>
              <a:t>Modelos interpretables permiten explicar a la dirección por qué cada paciente representa un riesgo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HALLAZGO 1 · READMISIÓN TEMPRANA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Cada admisión previa multiplica por 1.40 la probabilidad de readmisión a 30 días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fig4_or_logis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39851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23760" y="1828800"/>
            <a:ext cx="4572000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91440" cy="219456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FACTOR DOMINANTE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2860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51C2C"/>
                </a:solidFill>
                <a:latin typeface="Arial"/>
              </a:rPr>
              <a:t>×1.40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200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  <a:latin typeface="Arial"/>
              </a:rPr>
              <a:t>por cada admisión previa adicional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566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8E8E"/>
                </a:solidFill>
                <a:latin typeface="Arial"/>
              </a:rPr>
              <a:t>≈ 40 % más probabilidad que un paciente comparable sin ese antecedente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06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1C2C"/>
                </a:solidFill>
                <a:latin typeface="Arial"/>
              </a:rPr>
              <a:t>Otros predictores significativos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60" y="4526280"/>
            <a:ext cx="4572000" cy="0"/>
          </a:xfrm>
          <a:prstGeom prst="line">
            <a:avLst/>
          </a:prstGeom>
          <a:ln w="12700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466344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Uso de medicamento para diabetes  +21 %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Cada visita previa a urgencias  +7 %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Cada día adicional de estancia  +4 %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HALLAZGO 2 · RECURRENCIA HOSPITALARIA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Una visita a urgencias multiplica por 1.77 el número esperado de admisiones futuras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7</a:t>
            </a:r>
          </a:p>
        </p:txBody>
      </p:sp>
      <p:pic>
        <p:nvPicPr>
          <p:cNvPr id="9" name="Picture 8" descr="fig7_aic_poisson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19364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23760" y="1828800"/>
            <a:ext cx="4572000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91440" cy="219456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SEÑAL TEMPRANA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2860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51C2C"/>
                </a:solidFill>
                <a:latin typeface="Arial"/>
              </a:rPr>
              <a:t>×1.77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200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  <a:latin typeface="Arial"/>
              </a:rPr>
              <a:t>por cada visita previa a urgencias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566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8E8E"/>
                </a:solidFill>
                <a:latin typeface="Arial"/>
              </a:rPr>
              <a:t>multiplicador del número esperado de futuras admisiones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06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1C2C"/>
                </a:solidFill>
                <a:latin typeface="Arial"/>
              </a:rPr>
              <a:t>Implicaciones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60" y="4526280"/>
            <a:ext cx="4572000" cy="0"/>
          </a:xfrm>
          <a:prstGeom prst="line">
            <a:avLst/>
          </a:prstGeom>
          <a:ln w="12700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4663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Distribución sesgada: pocos pacientes</a:t>
            </a:r>
            <a:br/>
            <a:r>
              <a:rPr sz="1200">
                <a:solidFill>
                  <a:srgbClr val="4A4A4A"/>
                </a:solidFill>
                <a:latin typeface="Arial"/>
              </a:rPr>
              <a:t>concentran la mayoría de admisiones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Las urgencias son señal antes del reingreso</a:t>
            </a:r>
            <a:br/>
            <a:r>
              <a:rPr sz="1200">
                <a:solidFill>
                  <a:srgbClr val="4A4A4A"/>
                </a:solidFill>
                <a:latin typeface="Arial"/>
              </a:rPr>
              <a:t>hospitalario formal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Identificable antes del alta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HALLAZGO 3 · DURACIÓN DE LA ESTANCIA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La complejidad clínica explica buena parte de la variación en duración de la estancia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8</a:t>
            </a:r>
          </a:p>
        </p:txBody>
      </p:sp>
      <p:pic>
        <p:nvPicPr>
          <p:cNvPr id="9" name="Picture 8" descr="fig5_diag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21824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23760" y="1828800"/>
            <a:ext cx="4572000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91440" cy="219456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CALIDAD DEL AJUSTE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2860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51C2C"/>
                </a:solidFill>
                <a:latin typeface="Arial"/>
              </a:rPr>
              <a:t>0.28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200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  <a:latin typeface="Arial"/>
              </a:rPr>
              <a:t>pseudo R² del modelo 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566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8E8E"/>
                </a:solidFill>
                <a:latin typeface="Arial"/>
              </a:rPr>
              <a:t>satisfactorio para datos clínicos administrativos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06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51C2C"/>
                </a:solidFill>
                <a:latin typeface="Arial"/>
              </a:rPr>
              <a:t>Factores principales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60" y="4526280"/>
            <a:ext cx="4572000" cy="0"/>
          </a:xfrm>
          <a:prstGeom prst="line">
            <a:avLst/>
          </a:prstGeom>
          <a:ln w="12700">
            <a:solidFill>
              <a:srgbClr val="051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4663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Cada diagnóstico adicional  +3 % de estancia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Cada admisión previa  +3 % de estancia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A4A4A"/>
                </a:solidFill>
                <a:latin typeface="Arial"/>
              </a:rPr>
              <a:t>— Categorías 'Otros' (+34 %), Neoplasmas (+29 %),</a:t>
            </a:r>
            <a:br/>
            <a:r>
              <a:rPr sz="1200">
                <a:solidFill>
                  <a:srgbClr val="4A4A4A"/>
                </a:solidFill>
                <a:latin typeface="Arial"/>
              </a:rPr>
              <a:t>Diabetes (+24 %) vs Circulatorio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8E8E"/>
                </a:solidFill>
                <a:latin typeface="Arial"/>
              </a:rPr>
              <a:t>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51C2C"/>
                </a:solidFill>
                <a:latin typeface="Arial"/>
              </a:rPr>
              <a:t>Tres acciones operativas se desprenden directamente de los hallazgos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37960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E8E8E"/>
                </a:solidFill>
                <a:latin typeface="Arial"/>
              </a:rPr>
              <a:t>Fuente: análisis del equipo basado en Diabetes 130-Hospitals (UCI, n=69,970)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615" y="653796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8E8E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640080" cy="14173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737360"/>
            <a:ext cx="8778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Programa de seguimiento al alta para pacientes con historial previo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Arial"/>
              </a:rPr>
              <a:t>Acción · Llamada de seguimiento a las 72 horas y cita ambulatoria dentro de 7 días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8E8E"/>
                </a:solidFill>
                <a:latin typeface="Arial"/>
              </a:rPr>
              <a:t>Soporte · Reduce el predictor más fuerte de readmisión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737360"/>
            <a:ext cx="1691640" cy="141732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874519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IMPACTO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ESPERADO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286000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39"/>
            <a:ext cx="640080" cy="14173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91839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291839"/>
            <a:ext cx="8778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383279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Marcar visitas previas a urgencias como bandera roja en el sistema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Arial"/>
              </a:rPr>
              <a:t>Acción · Alerta automatizada al equipo de alta cuando el paciente tiene visitas recientes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605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8E8E"/>
                </a:solidFill>
                <a:latin typeface="Arial"/>
              </a:rPr>
              <a:t>Soporte · Las urgencias son la señal más temprana de recurrencia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291839"/>
            <a:ext cx="1691640" cy="141732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3428999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IMPACTO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ESPERADO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840479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640080" cy="14173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64008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4846320"/>
            <a:ext cx="8778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937759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51C2C"/>
                </a:solidFill>
                <a:latin typeface="Arial"/>
              </a:rPr>
              <a:t>Asignación diferenciada de camas y recursos por complejidad clínica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Arial"/>
              </a:rPr>
              <a:t>Acción · Pacientes con múltiples diagnósticos requieren mayor capacidad estimada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15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8E8E"/>
                </a:solidFill>
                <a:latin typeface="Arial"/>
              </a:rPr>
              <a:t>Soporte · Mejora la planeación y reduce sub-asignación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4846320"/>
            <a:ext cx="1691640" cy="1417320"/>
          </a:xfrm>
          <a:prstGeom prst="rect">
            <a:avLst/>
          </a:prstGeom>
          <a:solidFill>
            <a:srgbClr val="00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498348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IMPACTO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ESPERADO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394959"/>
            <a:ext cx="1691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MEDIO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48640" cy="45720"/>
          </a:xfrm>
          <a:prstGeom prst="rect">
            <a:avLst/>
          </a:prstGeom>
          <a:solidFill>
            <a:srgbClr val="FE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9E0"/>
                </a:solidFill>
                <a:latin typeface="Arial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Un mismo subgrupo concentra el riesgo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en los tres frentes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4206240"/>
            <a:ext cx="10515600" cy="0"/>
          </a:xfrm>
          <a:prstGeom prst="line">
            <a:avLst/>
          </a:prstGeom>
          <a:ln w="12700">
            <a:solidFill>
              <a:srgbClr val="00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Pacientes con mayor historia de uso hospitalario y mayor complejidad clínica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representan readmisión, recurrencia y estancia más larga simultáneamente.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A9E0"/>
                </a:solidFill>
                <a:latin typeface="Arial"/>
              </a:rPr>
              <a:t>Su identificación temprana es la palanca más eficiente para reducir presión hospitalaria.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1E1E1"/>
                </a:solidFill>
                <a:latin typeface="Arial"/>
              </a:rPr>
              <a:t>Gracias  · 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